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206240" cy="6858000"/>
          </a:xfrm>
          <a:prstGeom prst="rect">
            <a:avLst/>
          </a:prstGeom>
          <a:solidFill>
            <a:srgbClr val="0F1C34"/>
          </a:solidFill>
          <a:ln>
            <a:solidFill>
              <a:srgbClr val="0F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914400"/>
            <a:ext cx="29260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1920240"/>
            <a:ext cx="219456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2926080"/>
            <a:ext cx="320040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0" y="3931920"/>
            <a:ext cx="246888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4937760"/>
            <a:ext cx="33832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436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IBM BOB AI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65836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300" b="1">
                <a:solidFill>
                  <a:srgbClr val="F8FAFC"/>
                </a:solidFill>
                <a:latin typeface="Aptos"/>
              </a:rPr>
              <a:t>YIELD
HUNTERS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2461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2E8F0"/>
                </a:solidFill>
                <a:latin typeface="Aptos"/>
              </a:rPr>
              <a:t>Wafer Lot Yield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886200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AI-powered monitoring • driver analysis • planned-lot risk 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8006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8828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AI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806440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From production data → actionable yield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Semiconductor yield problems are expensive to investigate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The gap is not just data availability — it is turning data into decisions quickly.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64008" cy="2331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04872"/>
            <a:ext cx="2487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LOW-YIELD 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807208"/>
            <a:ext cx="2487168" cy="1618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Yield excursions can be missed until they become costly production issues.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24028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240280"/>
            <a:ext cx="64008" cy="2331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40487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404872"/>
            <a:ext cx="2487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COMPLEX PROCESS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807208"/>
            <a:ext cx="2487168" cy="1618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Temperature, pressure, power, gas flow and defect data create a high-dimensional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24028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2240280"/>
            <a:ext cx="64008" cy="2331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40487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404872"/>
            <a:ext cx="2487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SLOW INVESTIGATION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2807208"/>
            <a:ext cx="2487168" cy="1618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Teams may need several disconnected analyses to identify likely drivers and evaluate planned conditions.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074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CORE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44068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How can an engineer move from “something looks wrong” to “here is what to investigate next” in one workflow?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YIELD HUNTERS  •  Wafer Lot Yield Intelligence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One workflow: monitor → detect → analyze → simulate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Yield Hunters brings lot-level analytics into a single interactive dashboard.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42316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505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80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0156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Upload lot-level CSV or use the demo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31546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240280"/>
            <a:ext cx="242316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505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80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0156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Track yield, defects and SPC behavior.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546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2240280"/>
            <a:ext cx="242316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4505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880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40156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Rank influential process factors and inspect die patterns.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1546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2240280"/>
            <a:ext cx="242316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24505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880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SIMULATE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40156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Evaluate planned recipe conditions against historical behavior.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0835640" cy="713232"/>
          </a:xfrm>
          <a:prstGeom prst="roundRect">
            <a:avLst>
              <a:gd name="adj" fmla="val 12000"/>
            </a:avLst>
          </a:prstGeom>
          <a:solidFill>
            <a:srgbClr val="0F1C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760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Decision-support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230368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See the excursion  →  focus the investigation  →  inspect spatial evidence  →  test the next 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YIELD HUNTERS  •  Wafer Lot Yield Intelligence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From raw lot data to decision-ready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lightweight Python analytics stack powers an interactive Streamlit experience.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874519" cy="205740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5420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DATA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718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CSV / Demo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033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94A3B8"/>
                </a:solidFill>
                <a:latin typeface="Aptos"/>
              </a:rPr>
              <a:t>Lot yield, process parameters, defect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15468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331720"/>
            <a:ext cx="1874519" cy="205740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25420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9718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Pandas + 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7033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94A3B8"/>
                </a:solidFill>
                <a:latin typeface="Aptos"/>
              </a:rPr>
              <a:t>Validation, transformation and feature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315468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331720"/>
            <a:ext cx="1874519" cy="205740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1" y="25420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29718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Statistics +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37033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94A3B8"/>
                </a:solidFill>
                <a:latin typeface="Aptos"/>
              </a:rPr>
              <a:t>SPC, distributions, Random Forest driver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15468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331720"/>
            <a:ext cx="1874519" cy="205740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2" y="25420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VISUALIZATION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29718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Plotly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2" y="37033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94A3B8"/>
                </a:solidFill>
                <a:latin typeface="Aptos"/>
              </a:rPr>
              <a:t>Interactive charts and spatial wafer inspection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315468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2331720"/>
            <a:ext cx="1874519" cy="205740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82912" y="25420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29718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Streamlit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37033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94A3B8"/>
                </a:solidFill>
                <a:latin typeface="Aptos"/>
              </a:rPr>
              <a:t>One interface for monitoring and simulation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83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Technology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492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Python  •  Streamlit  •  Pandas  •  NumPy  •  Plotly  •  Scikit-learn  •  SciPy  •  Statsmodels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YIELD HUNTERS  •  Wafer Lot Yield Intelligence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KEY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Five capabilities, one investigation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Designed around the questions an engineer needs to answer.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Yield &amp; Defect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0720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Aptos"/>
              </a:rPr>
              <a:t>What is the current yield picture?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94A3B8"/>
                </a:solidFill>
                <a:latin typeface="Aptos"/>
              </a:rPr>
              <a:t>KPIs • distribution • excursion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4884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33172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SPC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80720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6B6D4"/>
                </a:solidFill>
                <a:latin typeface="Aptos"/>
              </a:rPr>
              <a:t>Is process behavior changing?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338328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94A3B8"/>
                </a:solidFill>
                <a:latin typeface="Aptos"/>
              </a:rPr>
              <a:t>Run chart • control limits • rolling mean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14884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233172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Driver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80720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Aptos"/>
              </a:rPr>
              <a:t>Which factors deserve attention?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338328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94A3B8"/>
                </a:solidFill>
                <a:latin typeface="Aptos"/>
              </a:rPr>
              <a:t>Random Forest feature importance ranking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457200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4328" y="47548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Wafer Die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52303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6B6D4"/>
                </a:solidFill>
                <a:latin typeface="Aptos"/>
              </a:rPr>
              <a:t>Where are defects concentrated?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580644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94A3B8"/>
                </a:solidFill>
                <a:latin typeface="Aptos"/>
              </a:rPr>
              <a:t>Spatial pass/defect inspection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57200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47548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Lot Risk Simulator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52303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Aptos"/>
              </a:rPr>
              <a:t>What if we run this recipe?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580644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94A3B8"/>
                </a:solidFill>
                <a:latin typeface="Aptos"/>
              </a:rPr>
              <a:t>Planned setpoints vs historical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YIELD HUNTERS  •  Wafer Lot Yield Intelligence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Live dashboard: the operational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single screen surfaces lot volume, average yield, excursions, defects and spatial evidence.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1018520" cy="3977639"/>
          </a:xfrm>
          <a:prstGeom prst="roundRect">
            <a:avLst>
              <a:gd name="adj" fmla="val 12000"/>
            </a:avLst>
          </a:prstGeom>
          <a:solidFill>
            <a:srgbClr val="0F1C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0652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89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961888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Start with the health of the lot population, then drill into the outliers.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YIELD HUNTERS  •  Wafer Lot Yield Intelligence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Yield &amp; defect analytics: detect excursions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SPC-style monitoring turns a long lot history into a visual signal for process variation.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1018520" cy="3977639"/>
          </a:xfrm>
          <a:prstGeom prst="roundRect">
            <a:avLst>
              <a:gd name="adj" fmla="val 12000"/>
            </a:avLst>
          </a:prstGeom>
          <a:solidFill>
            <a:srgbClr val="0F1C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0652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893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596188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Control limits and thresholds make unusual yield behavior easier to spot and prioritize.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YIELD HUNTERS  •  Wafer Lot Yield Intelligence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Driver analysis: focus the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Feature importance ranks process variables that are most useful for predicting yield in the available data.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1018520" cy="3977639"/>
          </a:xfrm>
          <a:prstGeom prst="roundRect">
            <a:avLst>
              <a:gd name="adj" fmla="val 12000"/>
            </a:avLst>
          </a:prstGeom>
          <a:solidFill>
            <a:srgbClr val="0F1C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0652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89320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9618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Use ranked drivers to guide engineering review — not as a substitute for process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YIELD HUNTERS  •  Wafer Lot Yield Intelligence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Lot risk simulator: test planned conditions before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Compare planned setpoints with historical behavior to flag potential risk before a lot is run.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1018520" cy="3977639"/>
          </a:xfrm>
          <a:prstGeom prst="roundRect">
            <a:avLst>
              <a:gd name="adj" fmla="val 12000"/>
            </a:avLst>
          </a:prstGeom>
          <a:solidFill>
            <a:srgbClr val="0F1C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0652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89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SIMULATE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596188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Shift the workflow from reactive analysis toward proactive recipe evaluation.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YIELD HUNTERS  •  Wafer Lot Yield Intelligence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What Yield Hunters changes for the engineering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The prototype is built to reduce analysis friction and improve investigation focus.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FASTER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286000"/>
            <a:ext cx="8001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Surface low-yield behavior and excursions without manually stitching together multiple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63240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FOCUSED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8001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Rank candidate drivers so engineers can prioritize what to examine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77639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SPATIAL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14800"/>
            <a:ext cx="8001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Use wafer die maps to see whether defects cluster by 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892040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PROACTIVE THINKING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029200"/>
            <a:ext cx="8001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Evaluate planned process conditions against historical baseline behavior.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6B6D4"/>
                </a:solidFill>
                <a:latin typeface="Aptos"/>
              </a:rPr>
              <a:t>Current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943600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Functional prototype using demo / historical lot data with an interactive web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YIELD HUNTERS  •  Wafer Lot Yield Intelligence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Prototype today. Production integration tomorrow.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clear path from hackathon proof-of-concept to an engineering-ready platform.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83080"/>
            <a:ext cx="109728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324612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57860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035808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Functional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703320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94A3B8"/>
                </a:solidFill>
                <a:latin typeface="Aptos"/>
              </a:rPr>
              <a:t>Interactive dashboard, lot analytics, SPC, driver ranking and risk simulation.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46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331720"/>
            <a:ext cx="324612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57860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035808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Production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703320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94A3B8"/>
                </a:solidFill>
                <a:latin typeface="Aptos"/>
              </a:rPr>
              <a:t>MES / database connectivity, model validation, authentication and alerts.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246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2331720"/>
            <a:ext cx="3246120" cy="23317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57860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3035808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Closed-loop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3703320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94A3B8"/>
                </a:solidFill>
                <a:latin typeface="Aptos"/>
              </a:rPr>
              <a:t>Continuous monitoring, stronger model governance and deployment hardening.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257800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YIELD HUNTERS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404104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Turn wafer data into the next engineering decision.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1996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61813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Questions &amp;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